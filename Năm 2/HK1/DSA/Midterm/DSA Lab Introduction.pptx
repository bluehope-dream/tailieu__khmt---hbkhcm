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54" r:id="rId2"/>
  </p:sldMasterIdLst>
  <p:notesMasterIdLst>
    <p:notesMasterId r:id="rId11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12192000" cy="6858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6" roundtripDataSignature="AMtx7mimjd9YvXj3sduHz01QsSXI0P1mY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B23806F-3E81-4CD6-8757-48F6E3FB4102}">
  <a:tblStyle styleId="{EB23806F-3E81-4CD6-8757-48F6E3FB410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21" y="72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customschemas.google.com/relationships/presentationmetadata" Target="meta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7" name="Google Shape;9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3" name="Google Shape;10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9" name="Google Shape;10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5" name="Google Shape;11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1" name="Google Shape;12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8" name="Google Shape;128;p8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Các bạn được khuyến khích là lên ngồi bàn đầu nếu cảm thấy khó khăn trong việc làm bài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obj">
  <p:cSld name="OBJECT">
    <p:bg>
      <p:bgPr>
        <a:solidFill>
          <a:schemeClr val="lt1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10"/>
          <p:cNvSpPr/>
          <p:nvPr/>
        </p:nvSpPr>
        <p:spPr>
          <a:xfrm>
            <a:off x="2743200" y="1981200"/>
            <a:ext cx="1714500" cy="17145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0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0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0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1"/>
          <p:cNvSpPr txBox="1">
            <a:spLocks noGrp="1"/>
          </p:cNvSpPr>
          <p:nvPr>
            <p:ph type="title"/>
          </p:nvPr>
        </p:nvSpPr>
        <p:spPr>
          <a:xfrm>
            <a:off x="564603" y="1355153"/>
            <a:ext cx="11062792" cy="695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>
                <a:solidFill>
                  <a:srgbClr val="474B57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1"/>
          <p:cNvSpPr txBox="1">
            <a:spLocks noGrp="1"/>
          </p:cNvSpPr>
          <p:nvPr>
            <p:ph type="body" idx="1"/>
          </p:nvPr>
        </p:nvSpPr>
        <p:spPr>
          <a:xfrm>
            <a:off x="615315" y="2433320"/>
            <a:ext cx="10961369" cy="27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00" b="1" i="0" u="sng">
                <a:solidFill>
                  <a:srgbClr val="85C4D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1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1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1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4"/>
          <p:cNvSpPr txBox="1"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4"/>
          <p:cNvSpPr txBox="1">
            <a:spLocks noGrp="1"/>
          </p:cNvSpPr>
          <p:nvPr>
            <p:ph type="subTitle" idx="1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4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4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4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5"/>
          <p:cNvSpPr txBox="1">
            <a:spLocks noGrp="1"/>
          </p:cNvSpPr>
          <p:nvPr>
            <p:ph type="title"/>
          </p:nvPr>
        </p:nvSpPr>
        <p:spPr>
          <a:xfrm>
            <a:off x="564603" y="1355153"/>
            <a:ext cx="11062792" cy="695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>
                <a:solidFill>
                  <a:srgbClr val="474B57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5"/>
          <p:cNvSpPr txBox="1">
            <a:spLocks noGrp="1"/>
          </p:cNvSpPr>
          <p:nvPr>
            <p:ph type="body" idx="1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5"/>
          <p:cNvSpPr txBox="1">
            <a:spLocks noGrp="1"/>
          </p:cNvSpPr>
          <p:nvPr>
            <p:ph type="body" idx="2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5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5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5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6"/>
          <p:cNvSpPr txBox="1">
            <a:spLocks noGrp="1"/>
          </p:cNvSpPr>
          <p:nvPr>
            <p:ph type="title"/>
          </p:nvPr>
        </p:nvSpPr>
        <p:spPr>
          <a:xfrm>
            <a:off x="564603" y="1355153"/>
            <a:ext cx="11062792" cy="695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>
                <a:solidFill>
                  <a:srgbClr val="474B57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6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6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6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title"/>
          </p:nvPr>
        </p:nvSpPr>
        <p:spPr>
          <a:xfrm>
            <a:off x="564603" y="1355153"/>
            <a:ext cx="11062792" cy="695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>
                <a:solidFill>
                  <a:srgbClr val="474B57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body" idx="1"/>
          </p:nvPr>
        </p:nvSpPr>
        <p:spPr>
          <a:xfrm>
            <a:off x="615315" y="2433320"/>
            <a:ext cx="10961369" cy="27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00" b="1" i="0" u="sng">
                <a:solidFill>
                  <a:srgbClr val="85C4D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obj">
  <p:cSld name="OBJECT">
    <p:bg>
      <p:bgPr>
        <a:solidFill>
          <a:schemeClr val="lt1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7"/>
          <p:cNvSpPr/>
          <p:nvPr/>
        </p:nvSpPr>
        <p:spPr>
          <a:xfrm>
            <a:off x="2743200" y="1981200"/>
            <a:ext cx="1714500" cy="17145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7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7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7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8"/>
          <p:cNvSpPr txBox="1"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8"/>
          <p:cNvSpPr txBox="1">
            <a:spLocks noGrp="1"/>
          </p:cNvSpPr>
          <p:nvPr>
            <p:ph type="subTitle" idx="1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8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8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8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9"/>
          <p:cNvSpPr txBox="1">
            <a:spLocks noGrp="1"/>
          </p:cNvSpPr>
          <p:nvPr>
            <p:ph type="title"/>
          </p:nvPr>
        </p:nvSpPr>
        <p:spPr>
          <a:xfrm>
            <a:off x="564603" y="1355153"/>
            <a:ext cx="11062792" cy="695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>
                <a:solidFill>
                  <a:srgbClr val="474B57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9"/>
          <p:cNvSpPr txBox="1">
            <a:spLocks noGrp="1"/>
          </p:cNvSpPr>
          <p:nvPr>
            <p:ph type="body" idx="1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9"/>
          <p:cNvSpPr txBox="1">
            <a:spLocks noGrp="1"/>
          </p:cNvSpPr>
          <p:nvPr>
            <p:ph type="body" idx="2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9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9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0"/>
          <p:cNvSpPr txBox="1">
            <a:spLocks noGrp="1"/>
          </p:cNvSpPr>
          <p:nvPr>
            <p:ph type="title"/>
          </p:nvPr>
        </p:nvSpPr>
        <p:spPr>
          <a:xfrm>
            <a:off x="564603" y="1355153"/>
            <a:ext cx="11062792" cy="695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>
                <a:solidFill>
                  <a:srgbClr val="474B57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0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0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0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 extrusionOk="0">
                <a:moveTo>
                  <a:pt x="0" y="6858000"/>
                </a:moveTo>
                <a:lnTo>
                  <a:pt x="12192000" y="6858000"/>
                </a:lnTo>
                <a:lnTo>
                  <a:pt x="12192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EFCF7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7;p9"/>
          <p:cNvSpPr/>
          <p:nvPr/>
        </p:nvSpPr>
        <p:spPr>
          <a:xfrm>
            <a:off x="412641" y="369254"/>
            <a:ext cx="3477250" cy="6184900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8;p9"/>
          <p:cNvSpPr/>
          <p:nvPr/>
        </p:nvSpPr>
        <p:spPr>
          <a:xfrm>
            <a:off x="2940050" y="2178050"/>
            <a:ext cx="8770620" cy="0"/>
          </a:xfrm>
          <a:custGeom>
            <a:avLst/>
            <a:gdLst/>
            <a:ahLst/>
            <a:cxnLst/>
            <a:rect l="l" t="t" r="r" b="b"/>
            <a:pathLst>
              <a:path w="8770620" h="120000" extrusionOk="0">
                <a:moveTo>
                  <a:pt x="0" y="0"/>
                </a:moveTo>
                <a:lnTo>
                  <a:pt x="8770574" y="0"/>
                </a:lnTo>
              </a:path>
            </a:pathLst>
          </a:custGeom>
          <a:noFill/>
          <a:ln w="38100" cap="flat" cmpd="sng">
            <a:solidFill>
              <a:srgbClr val="79A8A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9;p9"/>
          <p:cNvSpPr txBox="1">
            <a:spLocks noGrp="1"/>
          </p:cNvSpPr>
          <p:nvPr>
            <p:ph type="title"/>
          </p:nvPr>
        </p:nvSpPr>
        <p:spPr>
          <a:xfrm>
            <a:off x="564603" y="1355153"/>
            <a:ext cx="11062792" cy="695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474B5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9"/>
          <p:cNvSpPr txBox="1">
            <a:spLocks noGrp="1"/>
          </p:cNvSpPr>
          <p:nvPr>
            <p:ph type="body" idx="1"/>
          </p:nvPr>
        </p:nvSpPr>
        <p:spPr>
          <a:xfrm>
            <a:off x="615315" y="2433320"/>
            <a:ext cx="10961369" cy="27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00" b="1" i="0" u="sng" strike="noStrike" cap="none">
                <a:solidFill>
                  <a:srgbClr val="85C4D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9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9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9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 extrusionOk="0">
                <a:moveTo>
                  <a:pt x="0" y="6858000"/>
                </a:moveTo>
                <a:lnTo>
                  <a:pt x="12192000" y="6858000"/>
                </a:lnTo>
                <a:lnTo>
                  <a:pt x="12192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EFCF7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12"/>
          <p:cNvSpPr/>
          <p:nvPr/>
        </p:nvSpPr>
        <p:spPr>
          <a:xfrm>
            <a:off x="412641" y="369254"/>
            <a:ext cx="3477250" cy="6184900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12"/>
          <p:cNvSpPr/>
          <p:nvPr/>
        </p:nvSpPr>
        <p:spPr>
          <a:xfrm>
            <a:off x="2940050" y="2178050"/>
            <a:ext cx="8770620" cy="0"/>
          </a:xfrm>
          <a:custGeom>
            <a:avLst/>
            <a:gdLst/>
            <a:ahLst/>
            <a:cxnLst/>
            <a:rect l="l" t="t" r="r" b="b"/>
            <a:pathLst>
              <a:path w="8770620" h="120000" extrusionOk="0">
                <a:moveTo>
                  <a:pt x="0" y="0"/>
                </a:moveTo>
                <a:lnTo>
                  <a:pt x="8770574" y="0"/>
                </a:lnTo>
              </a:path>
            </a:pathLst>
          </a:custGeom>
          <a:noFill/>
          <a:ln w="38100" cap="flat" cmpd="sng">
            <a:solidFill>
              <a:srgbClr val="79A8A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564603" y="1355153"/>
            <a:ext cx="11062792" cy="695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474B5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615315" y="2433320"/>
            <a:ext cx="10961369" cy="27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00" b="1" i="0" u="sng" strike="noStrike" cap="none">
                <a:solidFill>
                  <a:srgbClr val="85C4D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"/>
          <p:cNvSpPr txBox="1"/>
          <p:nvPr/>
        </p:nvSpPr>
        <p:spPr>
          <a:xfrm>
            <a:off x="441750" y="3918225"/>
            <a:ext cx="6880200" cy="7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0" marR="127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TRƯỜNG ĐẠI HỌC BÁCH KHOA – ĐHQG-HCM</a:t>
            </a:r>
            <a:endParaRPr sz="20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25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KHOA KHOA HỌC VÀ KỸ THUẬT MÁY TÍNH</a:t>
            </a:r>
            <a:endParaRPr sz="25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7631275" y="1911925"/>
            <a:ext cx="4474800" cy="25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50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CẤU TRÚC DỮ LIỆU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50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VÀ GIẢI THUẬT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50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(THỰC HÀNH)</a:t>
            </a:r>
            <a:endParaRPr sz="3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 txBox="1">
            <a:spLocks noGrp="1"/>
          </p:cNvSpPr>
          <p:nvPr>
            <p:ph type="title"/>
          </p:nvPr>
        </p:nvSpPr>
        <p:spPr>
          <a:xfrm>
            <a:off x="6339840" y="1319060"/>
            <a:ext cx="5288280" cy="695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GIỚI THIỆU CHUNG</a:t>
            </a:r>
            <a:endParaRPr/>
          </a:p>
        </p:txBody>
      </p:sp>
      <p:sp>
        <p:nvSpPr>
          <p:cNvPr id="94" name="Google Shape;94;p2"/>
          <p:cNvSpPr txBox="1"/>
          <p:nvPr/>
        </p:nvSpPr>
        <p:spPr>
          <a:xfrm>
            <a:off x="3012439" y="2280920"/>
            <a:ext cx="6856730" cy="15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032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2500" b="0" i="0" u="none" strike="noStrike" cap="none">
                <a:solidFill>
                  <a:srgbClr val="474B57"/>
                </a:solidFill>
                <a:latin typeface="Arial"/>
                <a:ea typeface="Arial"/>
                <a:cs typeface="Arial"/>
                <a:sym typeface="Arial"/>
              </a:rPr>
              <a:t>Thực hành diễn ra trong 6 tuần (5 tiết/ tuần):</a:t>
            </a:r>
            <a:endParaRPr sz="2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47700" marR="0" lvl="0" indent="-3175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474B57"/>
              </a:buClr>
              <a:buSzPts val="2000"/>
              <a:buFont typeface="Arial"/>
              <a:buChar char="–"/>
            </a:pPr>
            <a:r>
              <a:rPr lang="en-US" sz="2000" b="0" i="0" u="none" strike="noStrike" cap="none">
                <a:solidFill>
                  <a:srgbClr val="474B57"/>
                </a:solidFill>
                <a:latin typeface="Arial"/>
                <a:ea typeface="Arial"/>
                <a:cs typeface="Arial"/>
                <a:sym typeface="Arial"/>
              </a:rPr>
              <a:t>6 tuần thực học (hướng dẫn thực hành và làm bài tập)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47700" marR="0" lvl="0" indent="-3175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474B57"/>
              </a:buClr>
              <a:buSzPts val="2000"/>
              <a:buFont typeface="Arial"/>
              <a:buChar char="–"/>
            </a:pPr>
            <a:r>
              <a:rPr lang="en-US" sz="2000" b="0" i="0" u="none" strike="noStrike" cap="none">
                <a:solidFill>
                  <a:srgbClr val="474B57"/>
                </a:solidFill>
                <a:latin typeface="Arial"/>
                <a:ea typeface="Arial"/>
                <a:cs typeface="Arial"/>
                <a:sym typeface="Arial"/>
              </a:rPr>
              <a:t>Tuần 2 đến tuần 6 làm kiểm tra tại lớp vào đầu buổi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"/>
          <p:cNvSpPr txBox="1">
            <a:spLocks noGrp="1"/>
          </p:cNvSpPr>
          <p:nvPr>
            <p:ph type="title"/>
          </p:nvPr>
        </p:nvSpPr>
        <p:spPr>
          <a:xfrm>
            <a:off x="6339840" y="1319060"/>
            <a:ext cx="5288280" cy="695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NỘI DUNG</a:t>
            </a:r>
            <a:endParaRPr/>
          </a:p>
        </p:txBody>
      </p:sp>
      <p:graphicFrame>
        <p:nvGraphicFramePr>
          <p:cNvPr id="100" name="Google Shape;100;p3"/>
          <p:cNvGraphicFramePr/>
          <p:nvPr/>
        </p:nvGraphicFramePr>
        <p:xfrm>
          <a:off x="818866" y="2362984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{EB23806F-3E81-4CD6-8757-48F6E3FB4102}</a:tableStyleId>
              </a:tblPr>
              <a:tblGrid>
                <a:gridCol w="7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4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8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7125">
                <a:tc>
                  <a:txBody>
                    <a:bodyPr/>
                    <a:lstStyle/>
                    <a:p>
                      <a:pPr marL="635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Tuần</a:t>
                      </a:r>
                      <a:endParaRPr sz="1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5725" marB="0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39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9A8A4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Nội dung thực hành</a:t>
                      </a:r>
                      <a:endParaRPr sz="1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5725" marB="0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39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9A8A4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Kiểm tra</a:t>
                      </a:r>
                      <a:endParaRPr sz="1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5725" marB="0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39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9A8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6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39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39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7E1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/>
                        <a:t>OOP Review + Recursion + Array List + Singly Linked List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39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39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7E1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i="1" u="none" strike="noStrike" cap="none"/>
                        <a:t>(Không)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39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39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7E1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6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/>
                        <a:t>2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39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39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7E1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/>
                        <a:t>Doubly Linked List + Stack + Queue + Sorting (part 1)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39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39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7E1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/>
                        <a:t>Array List + Singly Linked List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39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39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7E1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1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/>
                        <a:t>3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39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39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7E1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/>
                        <a:t>Sorting (part 2) + </a:t>
                      </a:r>
                      <a:r>
                        <a:rPr lang="en-US" sz="2000"/>
                        <a:t>Binary Tree + Binary Search Tree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39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39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7E1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/>
                        <a:t>Stack + Queue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39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39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7E1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9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/>
                        <a:t>4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39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39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7E1E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/>
                        <a:t>AVL Tree + Splay Tree</a:t>
                      </a:r>
                      <a:endParaRPr sz="2000" u="none" strike="noStrike" cap="none"/>
                    </a:p>
                  </a:txBody>
                  <a:tcPr marL="91450" marR="91450" marT="45725" marB="45725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39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39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7E1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/>
                        <a:t>Sorting + </a:t>
                      </a:r>
                      <a:r>
                        <a:rPr lang="en-US" sz="2000"/>
                        <a:t> Binary Search Tree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39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39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7E1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87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/>
                        <a:t>5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39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39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7E1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/>
                        <a:t>Search + Heap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39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39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7E1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/>
                        <a:t>AVL Tree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39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39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7E1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56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/>
                        <a:t>6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39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7E1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/>
                        <a:t>Hash + Graph</a:t>
                      </a:r>
                      <a:endParaRPr sz="2000" u="none" strike="noStrike" cap="none"/>
                    </a:p>
                  </a:txBody>
                  <a:tcPr marL="91450" marR="91450" marT="45725" marB="45725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39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7E1E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/>
                        <a:t>Search + Heap</a:t>
                      </a:r>
                      <a:endParaRPr sz="2000"/>
                    </a:p>
                  </a:txBody>
                  <a:tcPr marL="91450" marR="91450" marT="45725" marB="45725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39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7E1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"/>
          <p:cNvSpPr txBox="1"/>
          <p:nvPr/>
        </p:nvSpPr>
        <p:spPr>
          <a:xfrm>
            <a:off x="3012449" y="2329133"/>
            <a:ext cx="8115096" cy="4080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355600" marR="416559" lvl="0" indent="-342900" algn="l" rtl="0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rgbClr val="474B57"/>
                </a:solidFill>
                <a:latin typeface="Arial"/>
                <a:ea typeface="Arial"/>
                <a:cs typeface="Arial"/>
                <a:sym typeface="Arial"/>
              </a:rPr>
              <a:t>Kiểm tra trên Safe Exam Browser (SEB). SV cần cài đặt SEB để đảm bảo sử dụng trong buổi kiểm tra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55600" marR="416559" lvl="0" indent="-342900" algn="l" rtl="0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rgbClr val="474B57"/>
                </a:solidFill>
                <a:latin typeface="Arial"/>
                <a:ea typeface="Arial"/>
                <a:cs typeface="Arial"/>
                <a:sym typeface="Arial"/>
              </a:rPr>
              <a:t>Số lượng: 2 câu hỏi lập trình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55600" marR="416559" lvl="0" indent="-342900" algn="l" rtl="0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rgbClr val="474B57"/>
                </a:solidFill>
                <a:latin typeface="Arial"/>
                <a:ea typeface="Arial"/>
                <a:cs typeface="Arial"/>
                <a:sym typeface="Arial"/>
              </a:rPr>
              <a:t>Thời gian làm bài: 45 phút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4"/>
          <p:cNvSpPr txBox="1">
            <a:spLocks noGrp="1"/>
          </p:cNvSpPr>
          <p:nvPr>
            <p:ph type="title"/>
          </p:nvPr>
        </p:nvSpPr>
        <p:spPr>
          <a:xfrm>
            <a:off x="3236550" y="1355150"/>
            <a:ext cx="8385900" cy="6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CẤU TRÚC BÀI KIỂM TRA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"/>
          <p:cNvSpPr txBox="1"/>
          <p:nvPr/>
        </p:nvSpPr>
        <p:spPr>
          <a:xfrm>
            <a:off x="3012449" y="2329133"/>
            <a:ext cx="8165067" cy="4080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355600" marR="416559" lvl="0" indent="-342900" algn="l" rtl="0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lang="en-US" sz="2200" b="0" i="0" u="none" strike="noStrike" cap="none">
                <a:solidFill>
                  <a:srgbClr val="474B57"/>
                </a:solidFill>
                <a:latin typeface="Arial"/>
                <a:ea typeface="Arial"/>
                <a:cs typeface="Arial"/>
                <a:sym typeface="Arial"/>
              </a:rPr>
              <a:t>Điểm tổng kết thực hành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416559" lvl="0" indent="0" algn="l" rtl="0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>
                <a:solidFill>
                  <a:srgbClr val="474B57"/>
                </a:solidFill>
                <a:latin typeface="Arial"/>
                <a:ea typeface="Arial"/>
                <a:cs typeface="Arial"/>
                <a:sym typeface="Arial"/>
              </a:rPr>
              <a:t>	= 50% Lab Test + 50% Lab Exercise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55600" marR="416559" lvl="0" indent="-342900" algn="l" rtl="0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lang="en-US" sz="2200" b="0" i="0" u="none" strike="noStrike" cap="none">
                <a:solidFill>
                  <a:srgbClr val="474B57"/>
                </a:solidFill>
                <a:latin typeface="Arial"/>
                <a:ea typeface="Arial"/>
                <a:cs typeface="Arial"/>
                <a:sym typeface="Arial"/>
              </a:rPr>
              <a:t>Lab Test = (Test tuần 2 + 3 + 4 + 5 + 6) / 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55600" marR="416559" lvl="0" indent="-342900" algn="l" rtl="0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lang="en-US" sz="2200" b="0" i="0" u="none" strike="noStrike" cap="none">
                <a:solidFill>
                  <a:srgbClr val="474B57"/>
                </a:solidFill>
                <a:latin typeface="Arial"/>
                <a:ea typeface="Arial"/>
                <a:cs typeface="Arial"/>
                <a:sym typeface="Arial"/>
              </a:rPr>
              <a:t>Lab Exercise = Trung bình điểm các chủ đề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55600" marR="416559" lvl="0" indent="-342900" algn="l" rtl="0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lang="en-US" sz="2200" b="0" i="0" u="none" strike="noStrike" cap="none">
                <a:solidFill>
                  <a:srgbClr val="474B57"/>
                </a:solidFill>
                <a:latin typeface="Arial"/>
                <a:ea typeface="Arial"/>
                <a:cs typeface="Arial"/>
                <a:sym typeface="Arial"/>
              </a:rPr>
              <a:t>Điểm 1 chủ đề = Điểm Quiz BKeL tương ứng với chủ đề đó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416559" lvl="0" indent="0" algn="l" rtl="0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sz="2200" b="0" i="0" u="none" strike="noStrike" cap="none">
              <a:solidFill>
                <a:srgbClr val="474B57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416559" lvl="0" indent="0" algn="l" rtl="0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>
                <a:solidFill>
                  <a:srgbClr val="474B57"/>
                </a:solidFill>
                <a:latin typeface="Arial"/>
                <a:ea typeface="Arial"/>
                <a:cs typeface="Arial"/>
                <a:sym typeface="Arial"/>
              </a:rPr>
              <a:t>Lưu ý khác:</a:t>
            </a:r>
            <a:endParaRPr sz="2200" b="0" i="0" u="none" strike="noStrike" cap="none">
              <a:solidFill>
                <a:srgbClr val="474B57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55600" marR="416559" lvl="0" indent="-342900" algn="l" rtl="0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lang="en-US" sz="2200" b="0" i="0" u="none" strike="noStrike" cap="none">
                <a:solidFill>
                  <a:srgbClr val="474B57"/>
                </a:solidFill>
                <a:latin typeface="Arial"/>
                <a:ea typeface="Arial"/>
                <a:cs typeface="Arial"/>
                <a:sym typeface="Arial"/>
              </a:rPr>
              <a:t>Điểm tổng kết TH &lt; 4: </a:t>
            </a:r>
            <a:r>
              <a:rPr lang="en-US" sz="22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Điểm tổng kết môn học là 13</a:t>
            </a:r>
            <a:endParaRPr sz="2200" b="0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55600" marR="416559" lvl="0" indent="-342900" algn="l" rtl="0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lang="en-US" sz="2200" b="0" i="0" u="none" strike="noStrike" cap="none">
                <a:solidFill>
                  <a:srgbClr val="474B57"/>
                </a:solidFill>
                <a:latin typeface="Arial"/>
                <a:ea typeface="Arial"/>
                <a:cs typeface="Arial"/>
                <a:sym typeface="Arial"/>
              </a:rPr>
              <a:t>Vắng &gt; 2 buổi: Điểm tổng kết thực hành = 0</a:t>
            </a:r>
            <a:endParaRPr sz="2200" b="0" i="0" u="none" strike="noStrike" cap="none">
              <a:solidFill>
                <a:srgbClr val="474B5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5"/>
          <p:cNvSpPr txBox="1">
            <a:spLocks noGrp="1"/>
          </p:cNvSpPr>
          <p:nvPr>
            <p:ph type="title"/>
          </p:nvPr>
        </p:nvSpPr>
        <p:spPr>
          <a:xfrm>
            <a:off x="3236550" y="1355150"/>
            <a:ext cx="8385900" cy="6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CẤU TRÚC ĐIỂM THỰC HÀNH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"/>
          <p:cNvSpPr txBox="1"/>
          <p:nvPr/>
        </p:nvSpPr>
        <p:spPr>
          <a:xfrm>
            <a:off x="3133170" y="2307590"/>
            <a:ext cx="8488680" cy="3446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469900" marR="9525" lvl="0" indent="-457200" algn="just" rtl="0">
              <a:lnSpc>
                <a:spcPct val="121739"/>
              </a:lnSpc>
              <a:spcBef>
                <a:spcPts val="60"/>
              </a:spcBef>
              <a:spcAft>
                <a:spcPts val="0"/>
              </a:spcAft>
              <a:buClr>
                <a:srgbClr val="474B57"/>
              </a:buClr>
              <a:buSzPts val="2300"/>
              <a:buFont typeface="Arial"/>
              <a:buChar char="●"/>
            </a:pPr>
            <a:r>
              <a:rPr lang="en-US" sz="2300" b="0" i="0" u="none" strike="noStrike" cap="none">
                <a:solidFill>
                  <a:srgbClr val="474B57"/>
                </a:solidFill>
                <a:latin typeface="Arial"/>
                <a:ea typeface="Arial"/>
                <a:cs typeface="Arial"/>
                <a:sym typeface="Arial"/>
              </a:rPr>
              <a:t>Có chuẩn bị bài thực hành ở nhà (làm các bài tập theo yêu cầu, nộp trước thời điểm kết thúc bài kiểm tra) và đi học đúng giờ</a:t>
            </a:r>
            <a:endParaRPr sz="2300" b="0" i="0" u="none" strike="noStrike" cap="none">
              <a:solidFill>
                <a:srgbClr val="474B57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69900" marR="9525" lvl="0" indent="-457200" algn="just" rtl="0">
              <a:lnSpc>
                <a:spcPct val="121739"/>
              </a:lnSpc>
              <a:spcBef>
                <a:spcPts val="60"/>
              </a:spcBef>
              <a:spcAft>
                <a:spcPts val="0"/>
              </a:spcAft>
              <a:buClr>
                <a:srgbClr val="474B57"/>
              </a:buClr>
              <a:buSzPts val="2300"/>
              <a:buFont typeface="Arial"/>
              <a:buChar char="●"/>
            </a:pPr>
            <a:r>
              <a:rPr lang="en-US" sz="2300" b="0" i="0" u="none" strike="noStrike" cap="none">
                <a:solidFill>
                  <a:srgbClr val="474B57"/>
                </a:solidFill>
                <a:latin typeface="Arial"/>
                <a:ea typeface="Arial"/>
                <a:cs typeface="Arial"/>
                <a:sym typeface="Arial"/>
              </a:rPr>
              <a:t>Các bài tập thực hành sẽ được thực hiện trên hệ thống BKeL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69900" marR="9525" lvl="0" indent="-457200" algn="just" rtl="0">
              <a:lnSpc>
                <a:spcPct val="121739"/>
              </a:lnSpc>
              <a:spcBef>
                <a:spcPts val="60"/>
              </a:spcBef>
              <a:spcAft>
                <a:spcPts val="0"/>
              </a:spcAft>
              <a:buClr>
                <a:srgbClr val="474B57"/>
              </a:buClr>
              <a:buSzPts val="2300"/>
              <a:buFont typeface="Arial"/>
              <a:buChar char="●"/>
            </a:pPr>
            <a:r>
              <a:rPr lang="en-US" sz="2300" b="0" i="0" u="none" strike="noStrike" cap="none">
                <a:solidFill>
                  <a:srgbClr val="474B57"/>
                </a:solidFill>
                <a:latin typeface="Arial"/>
                <a:ea typeface="Arial"/>
                <a:cs typeface="Arial"/>
                <a:sym typeface="Arial"/>
              </a:rPr>
              <a:t>Mỗi buổi có thể có điểm danh. Sinh viên vắng quá </a:t>
            </a:r>
            <a:r>
              <a:rPr lang="en-US" sz="23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300" b="0" i="0" u="none" strike="noStrike" cap="none">
                <a:solidFill>
                  <a:srgbClr val="474B57"/>
                </a:solidFill>
                <a:latin typeface="Arial"/>
                <a:ea typeface="Arial"/>
                <a:cs typeface="Arial"/>
                <a:sym typeface="Arial"/>
              </a:rPr>
              <a:t> buổi thực hành thì điểm </a:t>
            </a:r>
            <a:r>
              <a:rPr lang="en-US" sz="23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Tổng kết TH = 0. </a:t>
            </a:r>
            <a:r>
              <a:rPr lang="en-US" sz="23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Trong trường hợp có lý do chính đáng thì SV cần gửi email xin phép trước khi bắt đầu buổi học để được xem xét.</a:t>
            </a:r>
            <a:endParaRPr sz="23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12700" lvl="0" indent="0" algn="l" rtl="0">
              <a:lnSpc>
                <a:spcPct val="121739"/>
              </a:lnSpc>
              <a:spcBef>
                <a:spcPts val="3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2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12700" lvl="0" indent="0" algn="l" rtl="0">
              <a:lnSpc>
                <a:spcPct val="121739"/>
              </a:lnSpc>
              <a:spcBef>
                <a:spcPts val="3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endParaRPr sz="2300" b="0" i="0" u="none" strike="noStrike" cap="none">
              <a:solidFill>
                <a:srgbClr val="474B5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6"/>
          <p:cNvSpPr txBox="1">
            <a:spLocks noGrp="1"/>
          </p:cNvSpPr>
          <p:nvPr>
            <p:ph type="title"/>
          </p:nvPr>
        </p:nvSpPr>
        <p:spPr>
          <a:xfrm>
            <a:off x="2904150" y="1355150"/>
            <a:ext cx="8717700" cy="6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QUY ĐỊNH VỀ BUỔI THỰC HÀNH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7"/>
          <p:cNvSpPr txBox="1">
            <a:spLocks noGrp="1"/>
          </p:cNvSpPr>
          <p:nvPr>
            <p:ph type="body" idx="1"/>
          </p:nvPr>
        </p:nvSpPr>
        <p:spPr>
          <a:xfrm>
            <a:off x="615315" y="2433320"/>
            <a:ext cx="11424285" cy="1308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2409825" marR="508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2409825" marR="5080" lvl="0" indent="0" algn="l" rtl="0">
              <a:lnSpc>
                <a:spcPct val="110000"/>
              </a:lnSpc>
              <a:spcBef>
                <a:spcPts val="10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2409825" marR="5080" lvl="0" indent="0" algn="l" rtl="0">
              <a:lnSpc>
                <a:spcPct val="110000"/>
              </a:lnSpc>
              <a:spcBef>
                <a:spcPts val="100"/>
              </a:spcBef>
              <a:spcAft>
                <a:spcPts val="0"/>
              </a:spcAft>
              <a:buSzPts val="1400"/>
              <a:buNone/>
            </a:pPr>
            <a:endParaRPr u="none">
              <a:solidFill>
                <a:srgbClr val="262626"/>
              </a:solidFill>
            </a:endParaRPr>
          </a:p>
        </p:txBody>
      </p:sp>
      <p:sp>
        <p:nvSpPr>
          <p:cNvPr id="124" name="Google Shape;124;p7"/>
          <p:cNvSpPr txBox="1">
            <a:spLocks noGrp="1"/>
          </p:cNvSpPr>
          <p:nvPr>
            <p:ph type="title"/>
          </p:nvPr>
        </p:nvSpPr>
        <p:spPr>
          <a:xfrm>
            <a:off x="564603" y="1355153"/>
            <a:ext cx="11062792" cy="695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78879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THÔNG TIN LIÊN HỆ</a:t>
            </a:r>
            <a:endParaRPr/>
          </a:p>
        </p:txBody>
      </p:sp>
      <p:sp>
        <p:nvSpPr>
          <p:cNvPr id="125" name="Google Shape;125;p7"/>
          <p:cNvSpPr txBox="1"/>
          <p:nvPr/>
        </p:nvSpPr>
        <p:spPr>
          <a:xfrm>
            <a:off x="1645920" y="2433320"/>
            <a:ext cx="9101700" cy="1295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2409825" marR="508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2500" b="1" i="0" u="none" strike="noStrike" cap="none" dirty="0">
                <a:solidFill>
                  <a:srgbClr val="85C4D2"/>
                </a:solidFill>
                <a:latin typeface="Arial"/>
                <a:ea typeface="Arial"/>
                <a:cs typeface="Arial"/>
                <a:sym typeface="Arial"/>
              </a:rPr>
              <a:t>Name: 	</a:t>
            </a:r>
            <a:r>
              <a:rPr lang="en-US" sz="2500" b="1" dirty="0">
                <a:solidFill>
                  <a:srgbClr val="85C4D2"/>
                </a:solidFill>
              </a:rPr>
              <a:t>Dương Đức </a:t>
            </a:r>
            <a:r>
              <a:rPr lang="en-US" sz="2500" b="1" dirty="0" err="1">
                <a:solidFill>
                  <a:srgbClr val="85C4D2"/>
                </a:solidFill>
              </a:rPr>
              <a:t>Tín</a:t>
            </a:r>
            <a:endParaRPr sz="2500" b="1" i="0" u="none" strike="noStrike" cap="none" dirty="0">
              <a:solidFill>
                <a:srgbClr val="85C4D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409825" marR="508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2500" b="1" i="0" u="none" strike="noStrike" cap="none" dirty="0">
                <a:solidFill>
                  <a:srgbClr val="85C4D2"/>
                </a:solidFill>
                <a:latin typeface="Arial"/>
                <a:ea typeface="Arial"/>
                <a:cs typeface="Arial"/>
                <a:sym typeface="Arial"/>
              </a:rPr>
              <a:t>Email: </a:t>
            </a:r>
            <a:r>
              <a:rPr lang="en-US" sz="2500" b="1" i="0" u="none" strike="noStrike" cap="none">
                <a:solidFill>
                  <a:srgbClr val="85C4D2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lang="en-US" sz="2500" b="1" u="sng">
                <a:solidFill>
                  <a:srgbClr val="85C4D2"/>
                </a:solidFill>
              </a:rPr>
              <a:t>ddtin</a:t>
            </a:r>
            <a:r>
              <a:rPr lang="en-US" sz="2500" b="1" i="0" u="sng" strike="noStrike" cap="none">
                <a:solidFill>
                  <a:srgbClr val="85C4D2"/>
                </a:solidFill>
                <a:latin typeface="Arial"/>
                <a:ea typeface="Arial"/>
                <a:cs typeface="Arial"/>
                <a:sym typeface="Arial"/>
              </a:rPr>
              <a:t>@</a:t>
            </a:r>
            <a:r>
              <a:rPr lang="en-US" sz="2500" b="1" i="0" u="sng" strike="noStrike" cap="none" dirty="0">
                <a:solidFill>
                  <a:srgbClr val="85C4D2"/>
                </a:solidFill>
                <a:latin typeface="Arial"/>
                <a:ea typeface="Arial"/>
                <a:cs typeface="Arial"/>
                <a:sym typeface="Arial"/>
              </a:rPr>
              <a:t>hcmut.edu.vn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409825" marR="5080" lvl="0" indent="0" algn="l" rtl="0">
              <a:lnSpc>
                <a:spcPct val="11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2500" b="1" i="0" u="none" strike="noStrike" cap="none" dirty="0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8"/>
          <p:cNvSpPr txBox="1"/>
          <p:nvPr/>
        </p:nvSpPr>
        <p:spPr>
          <a:xfrm>
            <a:off x="7802225" y="3395875"/>
            <a:ext cx="2103900" cy="167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700" marR="50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n-US" sz="6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Q&amp;A</a:t>
            </a:r>
            <a:endParaRPr sz="6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431</Words>
  <Application>Microsoft Office PowerPoint</Application>
  <PresentationFormat>Widescreen</PresentationFormat>
  <Paragraphs>55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Office Theme</vt:lpstr>
      <vt:lpstr>1_Office Theme</vt:lpstr>
      <vt:lpstr>PowerPoint Presentation</vt:lpstr>
      <vt:lpstr>GIỚI THIỆU CHUNG</vt:lpstr>
      <vt:lpstr>NỘI DUNG</vt:lpstr>
      <vt:lpstr>CẤU TRÚC BÀI KIỂM TRA</vt:lpstr>
      <vt:lpstr>CẤU TRÚC ĐIỂM THỰC HÀNH</vt:lpstr>
      <vt:lpstr>QUY ĐỊNH VỀ BUỔI THỰC HÀNH</vt:lpstr>
      <vt:lpstr>THÔNG TIN LIÊN HỆ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Tien Vu Van</dc:creator>
  <cp:lastModifiedBy>Duc Tin Duong</cp:lastModifiedBy>
  <cp:revision>1</cp:revision>
  <dcterms:modified xsi:type="dcterms:W3CDTF">2025-09-18T00:14:47Z</dcterms:modified>
</cp:coreProperties>
</file>